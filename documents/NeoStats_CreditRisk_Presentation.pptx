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0" kern="0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514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Intelligence Platform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model — a credit decision system: scored, explained, defensible, auditable, and queryable in plain English.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5029200"/>
            <a:ext cx="2926080" cy="0"/>
          </a:xfrm>
          <a:prstGeom prst="line">
            <a:avLst/>
          </a:prstGeom>
          <a:noFill/>
          <a:ln w="25400">
            <a:solidFill>
              <a:srgbClr val="1F7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212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Batra</a:t>
            </a:r>
            <a:endParaRPr lang="en-US" sz="15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— Candidate Assignment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indent="0" marL="0"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https://ai-powered-credit-risk-intelligence-platform-8eftb3rvzqybqg2pj.streamlit.app/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buNone/>
            </a:pPr>
            <a:r>
              <a:rPr lang="en-US" sz="11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https://github.com/Samikshabatra/AI-Powered-Credit-Risk-Intelligence-Platform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 ·  307,511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credit decisions the bank can defend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must decide quickly and accurately — and, increasingly, explain and audit every decision. The platform targets six real needs in one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688336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risk early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applicants before approval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4688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2688336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17136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scoring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decisions with a risk band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24688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688336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84464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reasons for every classification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88536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audit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48188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regulator-ready decision path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5968" y="40690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4288536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17136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47488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in plain English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8188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portfolio without SQL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83296" y="406908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4288536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84464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4816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ML &amp; policy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48188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 expressed as credit rules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67128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85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9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+ bureau / prev-app aggregates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25328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10" name="Shape 8"/>
          <p:cNvSpPr/>
          <p:nvPr/>
        </p:nvSpPr>
        <p:spPr>
          <a:xfrm>
            <a:off x="3364992" y="19659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2167128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185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679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repair, 19 engineered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25328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19659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167128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4224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185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679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isotonic calibration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14816" y="25328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8997696" y="19659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2167128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0576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56064" y="2185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26791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cost-optimal threshold, risk band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6F0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673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37856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→ adverse-action reasons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82112" y="41330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33" name="Shape 31"/>
          <p:cNvSpPr/>
          <p:nvPr/>
        </p:nvSpPr>
        <p:spPr>
          <a:xfrm>
            <a:off x="3364992" y="35661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6F0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47872" y="37673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47872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37856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547872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depth-4 surrogate policy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98464" y="41330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39" name="Shape 37"/>
          <p:cNvSpPr/>
          <p:nvPr/>
        </p:nvSpPr>
        <p:spPr>
          <a:xfrm>
            <a:off x="6181344" y="35661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6F0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4224" y="37673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64224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839712" y="37856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Talk-to-Data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NL→SQL agent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14816" y="4133088"/>
            <a:ext cx="164592" cy="201168"/>
          </a:xfrm>
          <a:prstGeom prst="rightArrow">
            <a:avLst/>
          </a:prstGeom>
          <a:solidFill>
            <a:srgbClr val="8892A0"/>
          </a:solidFill>
          <a:ln/>
        </p:spPr>
      </p:sp>
      <p:sp>
        <p:nvSpPr>
          <p:cNvPr id="45" name="Shape 43"/>
          <p:cNvSpPr/>
          <p:nvPr/>
        </p:nvSpPr>
        <p:spPr>
          <a:xfrm>
            <a:off x="8997696" y="3566160"/>
            <a:ext cx="2615184" cy="1371600"/>
          </a:xfrm>
          <a:prstGeom prst="roundRect">
            <a:avLst>
              <a:gd name="adj" fmla="val 4667"/>
            </a:avLst>
          </a:prstGeom>
          <a:solidFill>
            <a:srgbClr val="E6F0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80576" y="376732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8057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9656064" y="37856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180576" y="4279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+ Streamlit UI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two ways from one image — docker compose up for the local grader, and a deployed public URL. SQLite is read-only at query time.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EDA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insights, and one that changes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5" name="Image 0" descr="C:/Users/Samiksha Batra/Desktop/AI-Powered Credit Risk Intelligence Platform/reports/figures/eda_insight_ext_sour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55648"/>
            <a:ext cx="3438144" cy="1975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371246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scores — the strongest signal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43400" y="164592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8" name="Image 1" descr="C:/Users/Samiksha Batra/Desktop/AI-Powered Credit Risk Intelligence Platform/reports/figures/eda_insight_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1755648"/>
            <a:ext cx="3438144" cy="19751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53128" y="371246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age band (monotone)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138160" y="164592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6ECDD"/>
          </a:solidFill>
          <a:ln w="12700">
            <a:solidFill>
              <a:srgbClr val="E4C08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worth reading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21945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 = 365243 on 18% of rows is a “not employed” sentinel, not a 1000-year career.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are pensioners — who default at 5.4%, below the 8.7% employed average.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Repaired in the preprocessor, the semantic layer and the EDA, so it can never leak back.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94360" y="45445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307,511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51846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346704" y="43434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392424" y="45445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8.07%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3456432" y="51846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base rate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44768" y="43434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190488" y="45445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6254496" y="51846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(19 engineered)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942832" y="43434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988552" y="454456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9052560" y="51846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rows repaired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pipeline built for imbalance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native NaN handling (missingness is signal) and native categoricals (no 200-column one-hot); SHAP-friendly.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via scale_pos_weight = 11.39, not SMOTE — synthesising minority rows across categorical codes invents applicants that cannot exist.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disjoint stratified splits so no number is reported on data that shaped it.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kept as NaN — “no bureau record” and “no external score” are themselves predictive.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the booster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Calibrator +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headline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11.39   ·   1,190 boosted trees   ·   isotonic calibration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8" name="Image 0" descr="C:/Users/Samiksha Batra/Desktop/AI-Powered Credit Risk Intelligence Platform/reports/figures/ml_scor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5001768"/>
            <a:ext cx="5266944" cy="11978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48920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10" name="Image 1" descr="C:/Users/Samiksha Batra/Desktop/AI-Powered Credit Risk Intelligence Platform/reports/figures/ml_feature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5001768"/>
            <a:ext cx="5084064" cy="11978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61,503 unseen applicants — and versus baselines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0.7788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87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ROC-AUC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16459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2424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0.2637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487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(8% base rate)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90488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487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42832" y="16459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88552" y="184708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3.66×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487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Top-decile lift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(shipped)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532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holdout, same features, same seed — LightGBM wins both metrics; the linear model reaching 0.76 shows the signal is largely additive.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3246120"/>
            <a:ext cx="530352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19" name="Image 0" descr="C:/Users/Samiksha Batra/Desktop/AI-Powered Credit Risk Intelligence Platform/reports/figures/ml_baselin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19088" y="3355848"/>
            <a:ext cx="5084064" cy="256946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19088" y="5907024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ROC-AUC &amp; PR-AUC by model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Probabilities you can price a portfolio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26480" y="164592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5" name="Image 0" descr="C:/Users/Samiksha Batra/Desktop/AI-Powered Credit Risk Intelligence Platform/reports/figures/ml_calib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36208" y="1755648"/>
            <a:ext cx="5266944" cy="3895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36208" y="5632704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curve — raw vs isotonic-calibrated (holdout)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reweighting fixes the ranking but wrecks the probabilities — the raw model predicts ~46% average risk against an actual 8.1%.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regression, fitted on a split used for nothing else, restores them without reordering a single applicant.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“0.30” means 30 defaults per 100 — the number a lender prices against.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4361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0.160 → 0.066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5001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4160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92424" y="43616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0.269 → 0.004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456432" y="5001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DECISIONING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 is 0.129, not 0.50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52120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5" name="Image 0" descr="C:/Users/Samiksha Batra/Desktop/AI-Powered Credit Risk Intelligence Platform/reports/figures/ml_cost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10528" y="1755648"/>
            <a:ext cx="4992624" cy="2386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10528" y="412394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portfolio loss vs decision threshold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costs 45% of the loan (loss given default); a false positive 8% (forgone margin) — each weighted by that applicant’s exposure.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that minimises expected loss is 0.129, approving 81.4% of applicants.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5577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everyone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0.50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$1.22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$221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Cost-optimal 0.129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 anchored on economics:   Low  &lt; 6.4%     Medium  6.4–12.9%     High  ≥ 12.9%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decline gets its principal reasons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— exact for tree ensembles, milliseconds per applicant.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Adverse-action reason codes under ECOA / Reg-B: SHAP contributions become the plain-English reasons a lender must legally give a declined applicant.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deterministic templates first, LLM as a stylist over those facts — it cannot invent a reason the model did not produce.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attributes are suppressed from the notice and reported separately.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ADVERSE-ACTION NOTICE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24028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Decline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38.3% probability of default (threshold 12.9%).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reasons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External credit scores are below the approved-applicant average.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implied repayment term is longer than typical.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high share of previous applications were refused.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age were excluded from these reasons by policy.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expressed as credit policy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1,190-tree ensemble is not policy. A depth-4 tree fitted to the model’s own decisions is — its leaves read back as IF-THEN rules, each with support, precision and lift.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146304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(IF … THEN decline)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external score ≤ 0.26  AND  weakest ≤ 0.18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 &lt; avg score ≤ 0.36  AND  weakest ≤ 0.18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 ≤ 0.36  AND  weakest &gt; 0.18  AND  low down-payment cover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" y="491032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55504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rules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47091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392424" y="491032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55504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fidelity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44768" y="47091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190488" y="491032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only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254496" y="55504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encoding artefacts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42832" y="47091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988552" y="491032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protected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55504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in rules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TALK-TO-DATA  ·  NL → SQL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English, get SQL-backed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532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5 occupations have the highest default rate (≥ 1000 applicants)?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OCCUPATION_TYPE, AVG(TARGET) AS default_rate, COUNT(*)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applications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OCCUPATION_TYPE IS NOT NULL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OCCUPATION_TYPE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1000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default_rate DESC LIMIT 5;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Low-skill labourers lead at 17.2%, followed by drivers (11.3%) and waiters/barmen (11.3%).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178308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agent — on a SQL error the message goes back to the model, which rewrites the query.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pins canonical metric definitions so the model never re-invents “default rate”.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guardrail layers: SELECT-only allowlist, keyword denylist, table allowlist, read-only connection.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4114800"/>
          <a:ext cx="489204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NL→SQL eval (25 cases)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/ injection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Trace — every module in one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surface routes to six tools. For any applicant the whole chain renders top to bottom — the platform’s answer to “auditable”.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219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#170169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22199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features · 19 engineered · sentinel repaired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88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8892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 0.859  (LightGBM, 1,190 trees)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558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35584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38.3% probability of default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941064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227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92277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at or above 12.9% (cost-optimal)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507992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4897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48970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074920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0566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0566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external scores · long term · 75% prior refusals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641848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6235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562356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≤ 0.26 → DECLINE (lift 3.50×)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875520" y="2240280"/>
            <a:ext cx="1783080" cy="3657600"/>
          </a:xfrm>
          <a:prstGeom prst="roundRect">
            <a:avLst>
              <a:gd name="adj" fmla="val 5128"/>
            </a:avLst>
          </a:prstGeom>
          <a:solidFill>
            <a:srgbClr val="B26A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20040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6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6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limit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6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collateral only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HEALTH &amp; FAIRNESS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measured, not hidden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6BC">
                <a:alpha val="20000"/>
              </a:srgbClr>
            </a:outerShdw>
          </a:effectLst>
        </p:spPr>
      </p:sp>
      <p:pic>
        <p:nvPicPr>
          <p:cNvPr id="5" name="Image 0" descr="C:/Users/Samiksha Batra/Desktop/AI-Powered Credit Risk Intelligence Platform/reports/figures/fairness_gen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01368"/>
            <a:ext cx="5358384" cy="3803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5586984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performance by gender (holdout)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78308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Approval-rate gap of 10.7pp by gender and 30.5pp by age band — published on screen, not silently absorbed.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parity to equalise is a legal and policy choice, so the platform measures rather than quietly “fixes” it.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is labelled honestly: the dataset has no time axis, so it is a split check, not fake “drift”.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42519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4453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 pp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509320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approval gap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98280" y="42519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0" y="4453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 pp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208008" y="509320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Age-band approval gap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Optimised, guarded, tested, containerised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8928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60.6%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328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 saving (prompt caching)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04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2424" y="18928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5328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44768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90488" y="18928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4-layer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5328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guardrails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42832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88552" y="18928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Multi-stage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328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token optimisation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 (schema + metrics + exemplars) cached with cache_control — 72.3% cache-hit rate on the live run.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summarises result rows; the strong model’s context never grows by them.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control: schema-grounding, semantic layer, and a hard CANNOT_ANSWER fallback.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delivery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74904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span guardrails, semantic-layer SQL run against the live database, and compliance checks (no protected attribute ever surfaces as a reason).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build, non-root user, health-check; docker compose up runs the whole app.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and dataset are git-ignored — never committed.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image, two ways to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C">
                <a:alpha val="22000"/>
              </a:srgbClr>
            </a:outerShdw>
          </a:effectLst>
        </p:spPr>
      </p:sp>
      <p:pic>
        <p:nvPicPr>
          <p:cNvPr id="5" name="Image 0" descr="C:/Users/Samiksha Batra/Desktop/AI-Powered Credit Risk Intelligence Platform/documents/assets/live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2249424"/>
            <a:ext cx="6254496" cy="3529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836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56232"/>
            <a:ext cx="128016" cy="128016"/>
          </a:xfrm>
          <a:prstGeom prst="ellipse">
            <a:avLst/>
          </a:prstGeom>
          <a:solidFill>
            <a:srgbClr val="FF6058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856232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1856232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630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ai-powered-credit-risk-intelligence-platform-…streamlit.app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7830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grader: docker compose up runs the full app from one command.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link: deployed on Streamlit Community Cloud, live and shareable.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injected at runtime as a host secret — never in the image or git.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 runs an anonymised 18k-row sample (ROC-AUC 0.751); the full model scores 0.7788.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48920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6F0EA"/>
          </a:solidFill>
          <a:ln w="12700">
            <a:solidFill>
              <a:srgbClr val="BFE0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50109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15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https://ai-powered-credit-risk-intelligence-platform-8eftb3rvzqybqg2pj.streamlit.app/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 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output from the deployed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pic>
        <p:nvPicPr>
          <p:cNvPr id="5" name="Image 0" descr="C:/Users/Samiksha Batra/Desktop/AI-Powered Credit Risk Intelligence Platform/documents/assets/live_pred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5221224" cy="17007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4015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risk gauge, Decision Trace, SHAP and what-if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572768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pic>
        <p:nvPicPr>
          <p:cNvPr id="8" name="Image 1" descr="C:/Users/Samiksha Batra/Desktop/AI-Powered Credit Risk Intelligence Platform/documents/assets/live_perform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64208"/>
            <a:ext cx="5221224" cy="17007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91072" y="340156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discrimination, risk bands, splits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3968496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pic>
        <p:nvPicPr>
          <p:cNvPr id="11" name="Image 2" descr="C:/Users/Samiksha Batra/Desktop/AI-Powered Credit Risk Intelligence Platform/documents/assets/live_rul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059936"/>
            <a:ext cx="5221224" cy="17007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" y="57972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— derived policy with support and lift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153912" y="3968496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BFCFE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C">
                <a:alpha val="18000"/>
              </a:srgbClr>
            </a:outerShdw>
          </a:effectLst>
        </p:spPr>
      </p:sp>
      <p:pic>
        <p:nvPicPr>
          <p:cNvPr id="14" name="Image 3" descr="C:/Users/Samiksha Batra/Desktop/AI-Powered Credit Risk Intelligence Platform/documents/assets/live_healt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63640" y="4059936"/>
            <a:ext cx="5221224" cy="17007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91072" y="57972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Health — fairness gaps measured by group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limitations and what comes next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0.7788-AUC model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Cost-optimal threshold — $221M saved vs 0.50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adverse-action reason codes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auditable policy rules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NL→SQL agent (100% execution)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measured and published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and deployed live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0116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validation — one snapshot, no time axis.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matrix (LGD 45% / margin 8%) is assumed, not sourced.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measured, not mitigated.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need a human / counsel review loop.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ceiling ~0.78 on the three tables used.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0116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installments-payment features.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thresholds (cash vs revolving).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Reject-inference for survivorship bias.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drift monitor once time-ordered data exists.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  ·  NeoStats — AI Engineer Assignment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 IQ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decision system a bank could actually deploy — scored, explained, defensible, auditable.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2926080" cy="0"/>
          </a:xfrm>
          <a:prstGeom prst="line">
            <a:avLst/>
          </a:prstGeom>
          <a:noFill/>
          <a:ln w="25400">
            <a:solidFill>
              <a:srgbClr val="1F7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63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Batra   ·   AI Engineer — NeoStats Assignment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https://ai-powered-credit-risk-intelligence-platform-8eftb3rvzqybqg2pj.streamlit.app/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https://github.com/Samikshabatra/AI-Powered-Credit-Risk-Intelligence-Platform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Credit Risk Intelligence Platform</dc:title>
  <dc:subject>PptxGenJS Presentation</dc:subject>
  <dc:creator>Samiksha Batra</dc:creator>
  <cp:lastModifiedBy>Samiksha Batra</cp:lastModifiedBy>
  <cp:revision>1</cp:revision>
  <dcterms:created xsi:type="dcterms:W3CDTF">2026-09-07T06:11:47Z</dcterms:created>
  <dcterms:modified xsi:type="dcterms:W3CDTF">2026-09-07T06:11:47Z</dcterms:modified>
</cp:coreProperties>
</file>